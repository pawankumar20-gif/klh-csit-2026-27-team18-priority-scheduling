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6217920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F564E"/>
                </a:solidFill>
                <a:latin typeface="Aptos"/>
              </a:defRPr>
            </a:pPr>
            <a:r>
              <a:t>K L (DEEMED TO BE) UNIVERSITY  /  COMPUTER SCIENCE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7680960" cy="132588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3500" b="1">
                <a:solidFill>
                  <a:srgbClr val="21282B"/>
                </a:solidFill>
                <a:latin typeface="Aptos Display"/>
              </a:defRPr>
            </a:pPr>
            <a:r>
              <a:t>Parallel File Search</a:t>
            </a:r>
          </a:p>
          <a:p>
            <a:pPr>
              <a:spcAft>
                <a:spcPts val="600"/>
              </a:spcAft>
              <a:defRPr sz="3500" b="1">
                <a:solidFill>
                  <a:srgbClr val="21282B"/>
                </a:solidFill>
                <a:latin typeface="Aptos Display"/>
              </a:defRPr>
            </a:pPr>
            <a:r>
              <a:t>Using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971800"/>
            <a:ext cx="6675120" cy="64008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666F6F"/>
                </a:solidFill>
                <a:latin typeface="Aptos"/>
              </a:defRPr>
            </a:pPr>
            <a:r>
              <a:t>A multithreaded file-search application</a:t>
            </a:r>
          </a:p>
          <a:p>
            <a:pPr>
              <a:spcAft>
                <a:spcPts val="600"/>
              </a:spcAft>
              <a:defRPr sz="1800" b="0">
                <a:solidFill>
                  <a:srgbClr val="666F6F"/>
                </a:solidFill>
                <a:latin typeface="Aptos"/>
              </a:defRPr>
            </a:pPr>
            <a:r>
              <a:t>built with C++17 and Qt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5303520" cy="25603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F564E"/>
                </a:solidFill>
                <a:latin typeface="Aptos"/>
              </a:defRPr>
            </a:pPr>
            <a:r>
              <a:t>PROJECT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498848"/>
            <a:ext cx="6126480" cy="9144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1282B"/>
                </a:solidFill>
                <a:latin typeface="Aptos"/>
              </a:defRPr>
            </a:pPr>
            <a:r>
              <a:t>D Pawan Kumar  ·  2520090102</a:t>
            </a:r>
          </a:p>
          <a:p>
            <a:pPr>
              <a:spcAft>
                <a:spcPts val="600"/>
              </a:spcAft>
              <a:defRPr sz="1200" b="0">
                <a:solidFill>
                  <a:srgbClr val="21282B"/>
                </a:solidFill>
                <a:latin typeface="Aptos"/>
              </a:defRPr>
            </a:pPr>
            <a:r>
              <a:t>Ajith Reddy  ·  2520090186</a:t>
            </a:r>
          </a:p>
          <a:p>
            <a:pPr>
              <a:spcAft>
                <a:spcPts val="600"/>
              </a:spcAft>
              <a:defRPr sz="1200" b="0">
                <a:solidFill>
                  <a:srgbClr val="21282B"/>
                </a:solidFill>
                <a:latin typeface="Aptos"/>
              </a:defRPr>
            </a:pPr>
            <a:r>
              <a:t>Hitesh Suthar  ·  2520090078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572000"/>
            <a:ext cx="3657600" cy="25603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F564E"/>
                </a:solidFill>
                <a:latin typeface="Aptos"/>
              </a:defRPr>
            </a:pPr>
            <a:r>
              <a:t>FACULTY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901184"/>
            <a:ext cx="3657600" cy="41148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1282B"/>
                </a:solidFill>
                <a:latin typeface="Aptos"/>
              </a:defRPr>
            </a:pPr>
            <a:r>
              <a:t>Raghupathi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5376672"/>
            <a:ext cx="3657600" cy="43891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66F6F"/>
                </a:solidFill>
                <a:latin typeface="Aptos"/>
              </a:defRPr>
            </a:pPr>
            <a:r>
              <a:t>Hyderabad  ·  Academic Year 2026–2027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37376"/>
            <a:ext cx="11109960" cy="10972"/>
          </a:xfrm>
          <a:prstGeom prst="rect">
            <a:avLst/>
          </a:prstGeom>
          <a:solidFill>
            <a:srgbClr val="DE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6483096"/>
            <a:ext cx="868680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F6F"/>
                </a:solidFill>
                <a:latin typeface="Aptos"/>
              </a:defRPr>
            </a:pPr>
            <a:r>
              <a:t>PARALLEL FILE SEARCH USING THREADS  /  CSE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F564E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F564E"/>
                </a:solidFill>
                <a:latin typeface="Aptos"/>
              </a:defRPr>
            </a:pPr>
            <a:r>
              <a:t>01 /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21282B"/>
                </a:solidFill>
                <a:latin typeface="Aptos Display"/>
              </a:defRPr>
            </a:pPr>
            <a:r>
              <a:t>A practical application of concurrency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52144"/>
            <a:ext cx="10698480" cy="34747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66F6F"/>
                </a:solidFill>
                <a:latin typeface="Aptos"/>
              </a:defRPr>
            </a:pPr>
            <a:r>
              <a:t>A desktop tool to search filenames and text across directory trees.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09960" cy="10972"/>
          </a:xfrm>
          <a:prstGeom prst="rect">
            <a:avLst/>
          </a:prstGeom>
          <a:solidFill>
            <a:srgbClr val="DE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83096"/>
            <a:ext cx="868680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F6F"/>
                </a:solidFill>
                <a:latin typeface="Aptos"/>
              </a:defRPr>
            </a:pPr>
            <a:r>
              <a:t>PARALLEL FILE SEARCH USING THREADS  /  CSE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F564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691640"/>
            <a:ext cx="3493008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837944"/>
            <a:ext cx="41148" cy="1581911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84708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THE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21992"/>
            <a:ext cx="3127248" cy="1216151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1282B"/>
                </a:solidFill>
                <a:latin typeface="Aptos"/>
              </a:defRPr>
            </a:pPr>
            <a:r>
              <a:t>Large folders make manual and sequential file inspection time-consuming.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691640"/>
            <a:ext cx="3493008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1" y="1837944"/>
            <a:ext cx="41148" cy="1581911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184708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THE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221992"/>
            <a:ext cx="3127248" cy="1216151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1282B"/>
                </a:solidFill>
                <a:latin typeface="Aptos"/>
              </a:defRPr>
            </a:pPr>
            <a:r>
              <a:t>A coordinator schedules independent file-search tasks to a reusable worker pool.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91640"/>
            <a:ext cx="3493008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3" y="1837944"/>
            <a:ext cx="41148" cy="1581911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84464" y="184708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THE 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221992"/>
            <a:ext cx="3127248" cy="1216151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A responsive GUI with progress information, result filtering, activity logs, and CSV export.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10149840" cy="59436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21282B"/>
                </a:solidFill>
                <a:latin typeface="Aptos"/>
              </a:defRPr>
            </a:pPr>
            <a:r>
              <a:t>Core principle: keep interface work separate from concurrent file processing.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83480"/>
            <a:ext cx="10149840" cy="41148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666F6F"/>
                </a:solidFill>
                <a:latin typeface="Aptos"/>
              </a:defRPr>
            </a:pPr>
            <a:r>
              <a:t>Built for developers, administrators, students, researchers, and everyday computer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F564E"/>
                </a:solidFill>
                <a:latin typeface="Aptos"/>
              </a:defRPr>
            </a:pPr>
            <a:r>
              <a:t>02 /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21282B"/>
                </a:solidFill>
                <a:latin typeface="Aptos Display"/>
              </a:defRPr>
            </a:pPr>
            <a:r>
              <a:t>The problem is more than search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52144"/>
            <a:ext cx="10698480" cy="34747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66F6F"/>
                </a:solidFill>
                <a:latin typeface="Aptos"/>
              </a:defRPr>
            </a:pPr>
            <a:r>
              <a:t>The system addresses performance, responsiveness, and coordination challenges.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09960" cy="10972"/>
          </a:xfrm>
          <a:prstGeom prst="rect">
            <a:avLst/>
          </a:prstGeom>
          <a:solidFill>
            <a:srgbClr val="DE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83096"/>
            <a:ext cx="868680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F6F"/>
                </a:solidFill>
                <a:latin typeface="Aptos"/>
              </a:defRPr>
            </a:pPr>
            <a:r>
              <a:t>PARALLEL FILE SEARCH USING THREADS  /  CSE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F564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352044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746504"/>
            <a:ext cx="41148" cy="176479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755648"/>
            <a:ext cx="3172968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01  SLOW 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30552"/>
            <a:ext cx="3154680" cy="139903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1282B"/>
                </a:solidFill>
                <a:latin typeface="Aptos"/>
              </a:defRPr>
            </a:pPr>
            <a:r>
              <a:t>Sequential scans inspect files one by one and can be slow across large directory trees.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52044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61688" y="1746504"/>
            <a:ext cx="41148" cy="1764792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1755648"/>
            <a:ext cx="3172968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02  UI BLOCKING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130552"/>
            <a:ext cx="3154680" cy="139903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1282B"/>
                </a:solidFill>
                <a:latin typeface="Aptos"/>
              </a:defRPr>
            </a:pPr>
            <a:r>
              <a:t>Running file operations on the GUI thread can make the application appear unresponsive.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00200"/>
            <a:ext cx="352044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65008" y="1746504"/>
            <a:ext cx="41148" cy="176479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8" y="1755648"/>
            <a:ext cx="3172968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03  CONCURRENCY RISKS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130552"/>
            <a:ext cx="3154680" cy="139903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Multiple workers require safe shared-state updates, cancellation, progress reporting, and clean shutdown.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89120"/>
            <a:ext cx="10332720" cy="59436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21282B"/>
                </a:solidFill>
                <a:latin typeface="Aptos"/>
              </a:defRPr>
            </a:pPr>
            <a:r>
              <a:t>Problem definition: build a concurrent search tool that remains usable while managing threads and filesystem resources safely.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F564E"/>
                </a:solidFill>
                <a:latin typeface="Aptos"/>
              </a:defRPr>
            </a:pPr>
            <a:r>
              <a:t>03 /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21282B"/>
                </a:solidFill>
                <a:latin typeface="Aptos Display"/>
              </a:defRPr>
            </a:pPr>
            <a:r>
              <a:t>A focused, useful feature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52144"/>
            <a:ext cx="10698480" cy="34747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66F6F"/>
                </a:solidFill>
                <a:latin typeface="Aptos"/>
              </a:defRPr>
            </a:pPr>
            <a:r>
              <a:t>Features documented in the project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09960" cy="10972"/>
          </a:xfrm>
          <a:prstGeom prst="rect">
            <a:avLst/>
          </a:prstGeom>
          <a:solidFill>
            <a:srgbClr val="DE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83096"/>
            <a:ext cx="868680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F6F"/>
                </a:solidFill>
                <a:latin typeface="Aptos"/>
              </a:defRPr>
            </a:pPr>
            <a:r>
              <a:t>PARALLEL FILE SEARCH USING THREADS  /  CSE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F564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349300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655063"/>
            <a:ext cx="41148" cy="112471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664207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039112"/>
            <a:ext cx="3127248" cy="75895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Filename, file contents, or both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508760"/>
            <a:ext cx="349300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1" y="1655063"/>
            <a:ext cx="41148" cy="1124712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1664207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039112"/>
            <a:ext cx="3127248" cy="75895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Case options and regular expressions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508760"/>
            <a:ext cx="349300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83296" y="1655063"/>
            <a:ext cx="41148" cy="112471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6176" y="1664207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TRAVERSAL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039112"/>
            <a:ext cx="3127248" cy="75895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Recursive or immediate directory entries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46120"/>
            <a:ext cx="349300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392424"/>
            <a:ext cx="41148" cy="1124712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40156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FILE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3776472"/>
            <a:ext cx="3127248" cy="75895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Binary detection; skip files over 50 MB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2544" y="3246120"/>
            <a:ext cx="349300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70831" y="3392424"/>
            <a:ext cx="41148" cy="112471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3712" y="340156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776472"/>
            <a:ext cx="3127248" cy="75895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Progress, active workers, elapsed time, logs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5008" y="3246120"/>
            <a:ext cx="349300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83296" y="3392424"/>
            <a:ext cx="41148" cy="1124712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66176" y="340156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3776472"/>
            <a:ext cx="3127248" cy="75895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Sort, quick-filter, context actions, CSV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F564E"/>
                </a:solidFill>
                <a:latin typeface="Aptos"/>
              </a:defRPr>
            </a:pPr>
            <a:r>
              <a:t>04 / NOVELTY &amp;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21282B"/>
                </a:solidFill>
                <a:latin typeface="Aptos Display"/>
              </a:defRPr>
            </a:pPr>
            <a:r>
              <a:t>Innovation through thoughtful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52144"/>
            <a:ext cx="10698480" cy="34747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66F6F"/>
                </a:solidFill>
                <a:latin typeface="Aptos"/>
              </a:defRPr>
            </a:pPr>
            <a:r>
              <a:t>The project combines established technologies in a practical, integrated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09960" cy="10972"/>
          </a:xfrm>
          <a:prstGeom prst="rect">
            <a:avLst/>
          </a:prstGeom>
          <a:solidFill>
            <a:srgbClr val="DE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83096"/>
            <a:ext cx="868680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F6F"/>
                </a:solidFill>
                <a:latin typeface="Aptos"/>
              </a:defRPr>
            </a:pPr>
            <a:r>
              <a:t>PARALLEL FILE SEARCH USING THREADS  /  CSE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F564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53035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656" y="1700784"/>
            <a:ext cx="41148" cy="112471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709928"/>
            <a:ext cx="4956048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BOUNDED, REUSABLE THREAD 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084831"/>
            <a:ext cx="4937759" cy="75895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Reuses worker threads instead of creating one thread per file; schedules batches of 25 paths per task.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554480"/>
            <a:ext cx="53035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700784"/>
            <a:ext cx="41148" cy="1124712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709928"/>
            <a:ext cx="4956048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RESPONSIVE UI SEPARATION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84831"/>
            <a:ext cx="4937759" cy="75895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Search processing is separated from the Qt interface; progress is relayed through signals and slots.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337560"/>
            <a:ext cx="53035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6656" y="3483864"/>
            <a:ext cx="41148" cy="1124712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3493008"/>
            <a:ext cx="4956048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RESOURCE-AWARE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3867911"/>
            <a:ext cx="4937759" cy="75895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Reads content line by line and skips files larger than 50 MB to constrain per-file processing.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337560"/>
            <a:ext cx="53035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483864"/>
            <a:ext cx="41148" cy="112471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493008"/>
            <a:ext cx="4956048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USABLE SEARCH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67911"/>
            <a:ext cx="4937759" cy="75895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Combines regex options, binary detection, cancellation, activity logs, and CSV export.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303520"/>
            <a:ext cx="10058400" cy="32004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666F6F"/>
                </a:solidFill>
                <a:latin typeface="Aptos"/>
              </a:defRPr>
            </a:pPr>
            <a:r>
              <a:t>Novelty claim is based on the documented design—not a claim of being the first such tool.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F564E"/>
                </a:solidFill>
                <a:latin typeface="Aptos"/>
              </a:defRPr>
            </a:pPr>
            <a:r>
              <a:t>05 / OS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21282B"/>
                </a:solidFill>
                <a:latin typeface="Aptos Display"/>
              </a:defRPr>
            </a:pPr>
            <a:r>
              <a:t>Operating-system ideas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52144"/>
            <a:ext cx="10698480" cy="34747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66F6F"/>
                </a:solidFill>
                <a:latin typeface="Aptos"/>
              </a:defRPr>
            </a:pPr>
            <a:r>
              <a:t>The project makes concurrency and synchronization visible in a real application.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09960" cy="10972"/>
          </a:xfrm>
          <a:prstGeom prst="rect">
            <a:avLst/>
          </a:prstGeom>
          <a:solidFill>
            <a:srgbClr val="DE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83096"/>
            <a:ext cx="868680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F6F"/>
                </a:solidFill>
                <a:latin typeface="Aptos"/>
              </a:defRPr>
            </a:pPr>
            <a:r>
              <a:t>PARALLEL FILE SEARCH USING THREADS  /  CSE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F564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34930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563624"/>
            <a:ext cx="41148" cy="1216151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57276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THREADS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947672"/>
            <a:ext cx="3127248" cy="8503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Worker threads process independent batches while sharing process resources.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417320"/>
            <a:ext cx="34930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1" y="1563624"/>
            <a:ext cx="41148" cy="1216151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157276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MUTEX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1947672"/>
            <a:ext cx="3127248" cy="8503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Protects the task queue and shared result collections.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417320"/>
            <a:ext cx="34930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83296" y="1563624"/>
            <a:ext cx="41148" cy="1216151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6176" y="157276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CONDITION VARIABLE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1947672"/>
            <a:ext cx="3127248" cy="8503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Workers wait efficiently until tasks arrive or shutdown begins.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46120"/>
            <a:ext cx="34930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392424"/>
            <a:ext cx="41148" cy="1216151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40156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ATOMIC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3776472"/>
            <a:ext cx="3127248" cy="8503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Tracks running/cancellation flags and progress counters.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2544" y="3246120"/>
            <a:ext cx="34930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70831" y="3392424"/>
            <a:ext cx="41148" cy="1216151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3712" y="340156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FILESYSTEM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776472"/>
            <a:ext cx="3127248" cy="8503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std::filesystem traverses directories; std::ifstream reads lines.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5008" y="3246120"/>
            <a:ext cx="34930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83296" y="3392424"/>
            <a:ext cx="41148" cy="1216151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66176" y="340156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LIFECYCLE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3776472"/>
            <a:ext cx="3127248" cy="8503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Owned threads are joined during clean shutdown.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F564E"/>
                </a:solidFill>
                <a:latin typeface="Aptos"/>
              </a:defRPr>
            </a:pPr>
            <a:r>
              <a:t>06 / ARCHITECTURE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21282B"/>
                </a:solidFill>
                <a:latin typeface="Aptos Display"/>
              </a:defRPr>
            </a:pPr>
            <a:r>
              <a:t>A modular pipeline with clear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52144"/>
            <a:ext cx="10698480" cy="34747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66F6F"/>
                </a:solidFill>
                <a:latin typeface="Aptos"/>
              </a:defRPr>
            </a:pPr>
            <a:r>
              <a:t>GUI, coordination, worker execution, logging, and export are separated.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09960" cy="10972"/>
          </a:xfrm>
          <a:prstGeom prst="rect">
            <a:avLst/>
          </a:prstGeom>
          <a:solidFill>
            <a:srgbClr val="DE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83096"/>
            <a:ext cx="868680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F6F"/>
                </a:solidFill>
                <a:latin typeface="Aptos"/>
              </a:defRPr>
            </a:pPr>
            <a:r>
              <a:t>PARALLEL FILE SEARCH USING THREADS  /  CSE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F564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182880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5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29968"/>
            <a:ext cx="1737360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F564E"/>
                </a:solidFill>
                <a:latin typeface="Aptos"/>
              </a:defRPr>
            </a:pPr>
            <a:r>
              <a:t>MainWindow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828800"/>
            <a:ext cx="19202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5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0" y="2029968"/>
            <a:ext cx="1828800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F564E"/>
                </a:solidFill>
                <a:latin typeface="Aptos"/>
              </a:defRPr>
            </a:pPr>
            <a:r>
              <a:t>SearchController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1828800"/>
            <a:ext cx="17830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5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029968"/>
            <a:ext cx="1691639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F564E"/>
                </a:solidFill>
                <a:latin typeface="Aptos"/>
              </a:defRPr>
            </a:pPr>
            <a:r>
              <a:t>SearchEngine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828800"/>
            <a:ext cx="160020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5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029968"/>
            <a:ext cx="1508760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F564E"/>
                </a:solidFill>
                <a:latin typeface="Aptos"/>
              </a:defRPr>
            </a:pPr>
            <a:r>
              <a:t>ThreadPool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828800"/>
            <a:ext cx="21488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5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2029968"/>
            <a:ext cx="2057400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F564E"/>
                </a:solidFill>
                <a:latin typeface="Aptos"/>
              </a:defRPr>
            </a:pPr>
            <a:r>
              <a:t>SearchWorker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59151" y="2185416"/>
            <a:ext cx="283465" cy="0"/>
          </a:xfrm>
          <a:prstGeom prst="line">
            <a:avLst/>
          </a:prstGeom>
          <a:ln w="19050">
            <a:solidFill>
              <a:srgbClr val="1F56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45152" y="2185416"/>
            <a:ext cx="283464" cy="0"/>
          </a:xfrm>
          <a:prstGeom prst="line">
            <a:avLst/>
          </a:prstGeom>
          <a:ln w="19050">
            <a:solidFill>
              <a:srgbClr val="1F56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93992" y="2185416"/>
            <a:ext cx="283464" cy="0"/>
          </a:xfrm>
          <a:prstGeom prst="line">
            <a:avLst/>
          </a:prstGeom>
          <a:ln w="19050">
            <a:solidFill>
              <a:srgbClr val="1F56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759952" y="2185416"/>
            <a:ext cx="283463" cy="0"/>
          </a:xfrm>
          <a:prstGeom prst="line">
            <a:avLst/>
          </a:prstGeom>
          <a:ln w="19050">
            <a:solidFill>
              <a:srgbClr val="1F56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7240" y="3246120"/>
            <a:ext cx="33375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5528" y="3392424"/>
            <a:ext cx="41148" cy="941832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8408" y="3401568"/>
            <a:ext cx="2990088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LOGGER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3776472"/>
            <a:ext cx="2971800" cy="57607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1282B"/>
                </a:solidFill>
                <a:latin typeface="Aptos"/>
              </a:defRPr>
            </a:pPr>
            <a:r>
              <a:t>Timestamped INFO, SUCCESS, WARN, and ERROR messages.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246120"/>
            <a:ext cx="33375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53127" y="3392424"/>
            <a:ext cx="41148" cy="94183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36007" y="3401568"/>
            <a:ext cx="2990088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EXPORT MANAGER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7" y="3776472"/>
            <a:ext cx="2971800" cy="57607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1282B"/>
                </a:solidFill>
                <a:latin typeface="Aptos"/>
              </a:defRPr>
            </a:pPr>
            <a:r>
              <a:t>Escaped CSV output with UTF-8 BOM encoding.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246120"/>
            <a:ext cx="33375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10727" y="3392424"/>
            <a:ext cx="41148" cy="941832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93608" y="3401568"/>
            <a:ext cx="2990088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DATA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3776472"/>
            <a:ext cx="2971800" cy="57607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1282B"/>
                </a:solidFill>
                <a:latin typeface="Aptos"/>
              </a:defRPr>
            </a:pPr>
            <a:r>
              <a:t>SearchResult and SearchOptions represent results and settings.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074920"/>
            <a:ext cx="10149840" cy="4572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66F6F"/>
                </a:solidFill>
                <a:latin typeface="Aptos"/>
              </a:defRPr>
            </a:pPr>
            <a:r>
              <a:t>Qt signals and slots carry updates back to the UI thread.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F564E"/>
                </a:solidFill>
                <a:latin typeface="Aptos"/>
              </a:defRPr>
            </a:pPr>
            <a:r>
              <a:t>07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21282B"/>
                </a:solidFill>
                <a:latin typeface="Aptos Display"/>
              </a:defRPr>
            </a:pPr>
            <a:r>
              <a:t>From user query to useful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52144"/>
            <a:ext cx="10698480" cy="34747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66F6F"/>
                </a:solidFill>
                <a:latin typeface="Aptos"/>
              </a:defRPr>
            </a:pPr>
            <a:r>
              <a:t>The coordinator discovers files and distributes independent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09960" cy="10972"/>
          </a:xfrm>
          <a:prstGeom prst="rect">
            <a:avLst/>
          </a:prstGeom>
          <a:solidFill>
            <a:srgbClr val="DE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83096"/>
            <a:ext cx="868680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F6F"/>
                </a:solidFill>
                <a:latin typeface="Aptos"/>
              </a:defRPr>
            </a:pPr>
            <a:r>
              <a:t>PARALLEL FILE SEARCH USING THREADS  /  CSE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F564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20574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709928"/>
            <a:ext cx="50292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AD8B4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020824"/>
            <a:ext cx="1801368" cy="384048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21282B"/>
                </a:solidFill>
                <a:latin typeface="Aptos"/>
              </a:defRPr>
            </a:pPr>
            <a:r>
              <a:t>Choose directory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88336" y="2093976"/>
            <a:ext cx="173736" cy="0"/>
          </a:xfrm>
          <a:prstGeom prst="line">
            <a:avLst/>
          </a:prstGeom>
          <a:ln w="12700">
            <a:solidFill>
              <a:srgbClr val="DE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79" y="1600200"/>
            <a:ext cx="20574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35808" y="1709928"/>
            <a:ext cx="50292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AD8B4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2020824"/>
            <a:ext cx="1801368" cy="384048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21282B"/>
                </a:solidFill>
                <a:latin typeface="Aptos"/>
              </a:defRPr>
            </a:pPr>
            <a:r>
              <a:t>Enter pattern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0056" y="2093976"/>
            <a:ext cx="173736" cy="0"/>
          </a:xfrm>
          <a:prstGeom prst="line">
            <a:avLst/>
          </a:prstGeom>
          <a:ln w="12700">
            <a:solidFill>
              <a:srgbClr val="DE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57800" y="1600200"/>
            <a:ext cx="20574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67528" y="1709928"/>
            <a:ext cx="50292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AD8B4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2020824"/>
            <a:ext cx="1801368" cy="384048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21282B"/>
                </a:solidFill>
                <a:latin typeface="Aptos"/>
              </a:defRPr>
            </a:pPr>
            <a:r>
              <a:t>Configure options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51775" y="2093976"/>
            <a:ext cx="173737" cy="0"/>
          </a:xfrm>
          <a:prstGeom prst="line">
            <a:avLst/>
          </a:prstGeom>
          <a:ln w="12700">
            <a:solidFill>
              <a:srgbClr val="DE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89519" y="1600200"/>
            <a:ext cx="20574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99247" y="1709928"/>
            <a:ext cx="50292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AD8B4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2020824"/>
            <a:ext cx="1801368" cy="384048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21282B"/>
                </a:solidFill>
                <a:latin typeface="Aptos"/>
              </a:defRPr>
            </a:pPr>
            <a:r>
              <a:t>Discover files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83496" y="2093976"/>
            <a:ext cx="173736" cy="0"/>
          </a:xfrm>
          <a:prstGeom prst="line">
            <a:avLst/>
          </a:prstGeom>
          <a:ln w="12700">
            <a:solidFill>
              <a:srgbClr val="DE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921240" y="1600200"/>
            <a:ext cx="20574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30967" y="1709928"/>
            <a:ext cx="50292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AD8B4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9256" y="2020824"/>
            <a:ext cx="1801368" cy="384048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21282B"/>
                </a:solidFill>
                <a:latin typeface="Aptos"/>
              </a:defRPr>
            </a:pPr>
            <a:r>
              <a:t>Batch paths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429000"/>
            <a:ext cx="20574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" y="3538728"/>
            <a:ext cx="50292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AD8B4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3849624"/>
            <a:ext cx="1801368" cy="384048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21282B"/>
                </a:solidFill>
                <a:latin typeface="Aptos"/>
              </a:defRPr>
            </a:pPr>
            <a:r>
              <a:t>Schedule tasks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688336" y="3922776"/>
            <a:ext cx="173736" cy="0"/>
          </a:xfrm>
          <a:prstGeom prst="line">
            <a:avLst/>
          </a:prstGeom>
          <a:ln w="12700">
            <a:solidFill>
              <a:srgbClr val="DE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926079" y="3429000"/>
            <a:ext cx="20574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35808" y="3538728"/>
            <a:ext cx="50292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AD8B4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54096" y="3849624"/>
            <a:ext cx="1801368" cy="384048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21282B"/>
                </a:solidFill>
                <a:latin typeface="Aptos"/>
              </a:defRPr>
            </a:pPr>
            <a:r>
              <a:t>Match filenames / text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0056" y="3922776"/>
            <a:ext cx="173736" cy="0"/>
          </a:xfrm>
          <a:prstGeom prst="line">
            <a:avLst/>
          </a:prstGeom>
          <a:ln w="12700">
            <a:solidFill>
              <a:srgbClr val="DE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257800" y="3429000"/>
            <a:ext cx="20574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67528" y="3538728"/>
            <a:ext cx="50292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AD8B4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85816" y="3849624"/>
            <a:ext cx="1801368" cy="384048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21282B"/>
                </a:solidFill>
                <a:latin typeface="Aptos"/>
              </a:defRPr>
            </a:pPr>
            <a:r>
              <a:t>Update safe counters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351775" y="3922776"/>
            <a:ext cx="173737" cy="0"/>
          </a:xfrm>
          <a:prstGeom prst="line">
            <a:avLst/>
          </a:prstGeom>
          <a:ln w="12700">
            <a:solidFill>
              <a:srgbClr val="DE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589519" y="3429000"/>
            <a:ext cx="20574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99247" y="3538728"/>
            <a:ext cx="50292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AD8B4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17536" y="3849624"/>
            <a:ext cx="1801368" cy="384048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21282B"/>
                </a:solidFill>
                <a:latin typeface="Aptos"/>
              </a:defRPr>
            </a:pPr>
            <a:r>
              <a:t>Review and filter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683496" y="3922776"/>
            <a:ext cx="173736" cy="0"/>
          </a:xfrm>
          <a:prstGeom prst="line">
            <a:avLst/>
          </a:prstGeom>
          <a:ln w="12700">
            <a:solidFill>
              <a:srgbClr val="DE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921240" y="3429000"/>
            <a:ext cx="20574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030967" y="3538728"/>
            <a:ext cx="50292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AD8B4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49256" y="3849624"/>
            <a:ext cx="1801368" cy="384048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21282B"/>
                </a:solidFill>
                <a:latin typeface="Aptos"/>
              </a:defRPr>
            </a:pPr>
            <a:r>
              <a:t>Export CSV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577840"/>
            <a:ext cx="10149840" cy="32004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666F6F"/>
                </a:solidFill>
                <a:latin typeface="Aptos"/>
              </a:defRPr>
            </a:pPr>
            <a:r>
              <a:t>On completion or cancellation, the application coordinates shutdown and joins owned threads.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F564E"/>
                </a:solidFill>
                <a:latin typeface="Aptos"/>
              </a:defRPr>
            </a:pPr>
            <a:r>
              <a:t>08 /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21282B"/>
                </a:solidFill>
                <a:latin typeface="Aptos Display"/>
              </a:defRPr>
            </a:pPr>
            <a:r>
              <a:t>Implementation choices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52144"/>
            <a:ext cx="10698480" cy="34747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66F6F"/>
                </a:solidFill>
                <a:latin typeface="Aptos"/>
              </a:defRPr>
            </a:pPr>
            <a:r>
              <a:t>Focused engineering details behind the user-facing features.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09960" cy="10972"/>
          </a:xfrm>
          <a:prstGeom prst="rect">
            <a:avLst/>
          </a:prstGeom>
          <a:solidFill>
            <a:srgbClr val="DE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83096"/>
            <a:ext cx="868680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F6F"/>
                </a:solidFill>
                <a:latin typeface="Aptos"/>
              </a:defRPr>
            </a:pPr>
            <a:r>
              <a:t>PARALLEL FILE SEARCH USING THREADS  /  CSE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F564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34930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563624"/>
            <a:ext cx="41148" cy="1216151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57276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TASK SCHEDULING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947672"/>
            <a:ext cx="3127248" cy="8503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1282B"/>
                </a:solidFill>
                <a:latin typeface="Aptos"/>
              </a:defRPr>
            </a:pPr>
            <a:r>
              <a:t>Mutex-protected queue, condition-variable notifications, futures for task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417320"/>
            <a:ext cx="34930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1" y="1563624"/>
            <a:ext cx="41148" cy="1216151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157276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CONTENT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1947672"/>
            <a:ext cx="3127248" cy="8503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1282B"/>
                </a:solidFill>
                <a:latin typeface="Aptos"/>
              </a:defRPr>
            </a:pPr>
            <a:r>
              <a:t>Incremental line-by-line reads; ordinary text and std::regex matching.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417320"/>
            <a:ext cx="34930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83296" y="1563624"/>
            <a:ext cx="41148" cy="1216151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6176" y="157276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FILE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1947672"/>
            <a:ext cx="3127248" cy="8503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1282B"/>
                </a:solidFill>
                <a:latin typeface="Aptos"/>
              </a:defRPr>
            </a:pPr>
            <a:r>
              <a:t>Heuristic binary detection and a 50 MB maximum file-size guard.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46120"/>
            <a:ext cx="34930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392424"/>
            <a:ext cx="41148" cy="1216151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40156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CANCELLATION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3776472"/>
            <a:ext cx="3127248" cy="8503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1282B"/>
                </a:solidFill>
                <a:latin typeface="Aptos"/>
              </a:defRPr>
            </a:pPr>
            <a:r>
              <a:t>Atomic flags communicate cancellation and running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2544" y="3246120"/>
            <a:ext cx="34930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70831" y="3392424"/>
            <a:ext cx="41148" cy="1216151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3712" y="340156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SYNCHRONIZATION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776472"/>
            <a:ext cx="3127248" cy="8503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1282B"/>
                </a:solidFill>
                <a:latin typeface="Aptos"/>
              </a:defRPr>
            </a:pPr>
            <a:r>
              <a:t>Mutexes protect shared results; critical sections should stay short.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5008" y="3246120"/>
            <a:ext cx="34930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83296" y="3392424"/>
            <a:ext cx="41148" cy="1216151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66176" y="340156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BUILD &amp;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3776472"/>
            <a:ext cx="3127248" cy="8503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1282B"/>
                </a:solidFill>
                <a:latin typeface="Aptos"/>
              </a:defRPr>
            </a:pPr>
            <a:r>
              <a:t>CMake targets the core library, desktop app, and CTest test suite.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F564E"/>
                </a:solidFill>
                <a:latin typeface="Aptos"/>
              </a:defRPr>
            </a:pPr>
            <a:r>
              <a:t>09 / APPLICATION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21282B"/>
                </a:solidFill>
                <a:latin typeface="Aptos Display"/>
              </a:defRPr>
            </a:pPr>
            <a:r>
              <a:t>The actual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52144"/>
            <a:ext cx="10698480" cy="34747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66F6F"/>
                </a:solidFill>
                <a:latin typeface="Aptos"/>
              </a:defRPr>
            </a:pPr>
            <a:r>
              <a:t>Screenshots reproduced from the supplied project report, pages 13–14.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09960" cy="10972"/>
          </a:xfrm>
          <a:prstGeom prst="rect">
            <a:avLst/>
          </a:prstGeom>
          <a:solidFill>
            <a:srgbClr val="DE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83096"/>
            <a:ext cx="868680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F6F"/>
                </a:solidFill>
                <a:latin typeface="Aptos"/>
              </a:defRPr>
            </a:pPr>
            <a:r>
              <a:t>PARALLEL FILE SEARCH USING THREADS  /  CSE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F564E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9" name="Picture 8" descr="pfs_interface_p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36192"/>
            <a:ext cx="5257800" cy="4315968"/>
          </a:xfrm>
          <a:prstGeom prst="rect">
            <a:avLst/>
          </a:prstGeom>
        </p:spPr>
      </p:pic>
      <p:pic>
        <p:nvPicPr>
          <p:cNvPr id="10" name="Picture 9" descr="pfs_results_p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36192"/>
            <a:ext cx="5257800" cy="43159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925312"/>
            <a:ext cx="502920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900" b="1">
                <a:solidFill>
                  <a:srgbClr val="1F564E"/>
                </a:solidFill>
                <a:latin typeface="Aptos"/>
              </a:defRPr>
            </a:pPr>
            <a:r>
              <a:t>SEARCH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5925312"/>
            <a:ext cx="502920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900" b="1">
                <a:solidFill>
                  <a:srgbClr val="1F564E"/>
                </a:solidFill>
                <a:latin typeface="Aptos"/>
              </a:defRPr>
            </a:pPr>
            <a:r>
              <a:t>RESULTS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F564E"/>
                </a:solidFill>
                <a:latin typeface="Aptos"/>
              </a:defRPr>
            </a:pPr>
            <a:r>
              <a:t>10 / 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21282B"/>
                </a:solidFill>
                <a:latin typeface="Aptos Display"/>
              </a:defRPr>
            </a:pPr>
            <a:r>
              <a:t>A documented test plan—not assumed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52144"/>
            <a:ext cx="10698480" cy="34747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66F6F"/>
                </a:solidFill>
                <a:latin typeface="Aptos"/>
              </a:defRPr>
            </a:pPr>
            <a:r>
              <a:t>The report identifies these test targets; outcomes must be verified by running the suite.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09960" cy="10972"/>
          </a:xfrm>
          <a:prstGeom prst="rect">
            <a:avLst/>
          </a:prstGeom>
          <a:solidFill>
            <a:srgbClr val="DE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83096"/>
            <a:ext cx="868680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F6F"/>
                </a:solidFill>
                <a:latin typeface="Aptos"/>
              </a:defRPr>
            </a:pPr>
            <a:r>
              <a:t>PARALLEL FILE SEARCH USING THREADS  /  CSE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F564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54480"/>
            <a:ext cx="51206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4088" y="1700784"/>
            <a:ext cx="41148" cy="94183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709928"/>
            <a:ext cx="4773168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THREAD 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084831"/>
            <a:ext cx="4754879" cy="57607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Task enqueueing, execution, futures, and worker lifecycle.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54480"/>
            <a:ext cx="51206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0488" y="1700784"/>
            <a:ext cx="41148" cy="941832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709928"/>
            <a:ext cx="4773168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SEARCH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084831"/>
            <a:ext cx="4754879" cy="57607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Pattern matching, search modes, and directory traversal.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54680"/>
            <a:ext cx="51206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4088" y="3300984"/>
            <a:ext cx="41148" cy="941832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310128"/>
            <a:ext cx="4773168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CANCELLATION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685032"/>
            <a:ext cx="4754879" cy="57607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Cancellation request and clean completion.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154680"/>
            <a:ext cx="51206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0488" y="3300984"/>
            <a:ext cx="41148" cy="94183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3310128"/>
            <a:ext cx="4773168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CSV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685032"/>
            <a:ext cx="4754879" cy="57607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Field escaping and UTF-8 BOM output.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892040"/>
            <a:ext cx="10058400" cy="566928"/>
          </a:xfrm>
          <a:prstGeom prst="roundRect">
            <a:avLst/>
          </a:prstGeom>
          <a:solidFill>
            <a:srgbClr val="E1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34440" y="5038344"/>
            <a:ext cx="969264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F564E"/>
                </a:solidFill>
                <a:latin typeface="Aptos"/>
              </a:defRPr>
            </a:pPr>
            <a:r>
              <a:t>Validation step: run  ctest --test-dir build --output-on-failure  and record the actual output.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F564E"/>
                </a:solidFill>
                <a:latin typeface="Aptos"/>
              </a:defRPr>
            </a:pPr>
            <a:r>
              <a:t>11 /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21282B"/>
                </a:solidFill>
                <a:latin typeface="Aptos Display"/>
              </a:defRPr>
            </a:pPr>
            <a:r>
              <a:t>Make the project easy to reproduce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52144"/>
            <a:ext cx="10698480" cy="34747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66F6F"/>
                </a:solidFill>
                <a:latin typeface="Aptos"/>
              </a:defRPr>
            </a:pPr>
            <a:r>
              <a:t>Documentation is strongest when another person can build, run, and verify the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09960" cy="10972"/>
          </a:xfrm>
          <a:prstGeom prst="rect">
            <a:avLst/>
          </a:prstGeom>
          <a:solidFill>
            <a:srgbClr val="DE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83096"/>
            <a:ext cx="868680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F6F"/>
                </a:solidFill>
                <a:latin typeface="Aptos"/>
              </a:defRPr>
            </a:pPr>
            <a:r>
              <a:t>PARALLEL FILE SEARCH USING THREADS  /  CSE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F564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34930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700784"/>
            <a:ext cx="41148" cy="1216151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70992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README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084831"/>
            <a:ext cx="3127248" cy="8503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Project overview, prerequisites, setup, and launch instructions.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554480"/>
            <a:ext cx="34930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1" y="1700784"/>
            <a:ext cx="41148" cy="1216151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170992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084831"/>
            <a:ext cx="3127248" cy="8503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Module responsibilities, workflow, and concurrency design.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554480"/>
            <a:ext cx="34930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83296" y="1700784"/>
            <a:ext cx="41148" cy="1216151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6176" y="170992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USER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084831"/>
            <a:ext cx="3127248" cy="8503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Search configuration, result handling, and CSV export steps.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29000"/>
            <a:ext cx="34930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575304"/>
            <a:ext cx="41148" cy="1216151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58444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BUILD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3959352"/>
            <a:ext cx="3127248" cy="8503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CMake configure/build commands for the target environment.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2544" y="3429000"/>
            <a:ext cx="34930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70831" y="3575304"/>
            <a:ext cx="41148" cy="1216151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3712" y="358444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TEST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959352"/>
            <a:ext cx="3127248" cy="8503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1282B"/>
                </a:solidFill>
                <a:latin typeface="Aptos"/>
              </a:defRPr>
            </a:pPr>
            <a:r>
              <a:t>CTest output and reproducible test cases should be added after execution.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5008" y="3429000"/>
            <a:ext cx="349300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83296" y="3575304"/>
            <a:ext cx="41148" cy="1216151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66176" y="3584448"/>
            <a:ext cx="3145536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SCREENSHOTS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3959352"/>
            <a:ext cx="3127248" cy="8503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Interface and results screenshots from the project report.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F564E"/>
                </a:solidFill>
                <a:latin typeface="Aptos"/>
              </a:defRPr>
            </a:pPr>
            <a:r>
              <a:t>12 / TEAMWORK &amp;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21282B"/>
                </a:solidFill>
                <a:latin typeface="Aptos Display"/>
              </a:defRPr>
            </a:pPr>
            <a:r>
              <a:t>Who benefits—and how the team collaborates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52144"/>
            <a:ext cx="10698480" cy="34747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66F6F"/>
                </a:solidFill>
                <a:latin typeface="Aptos"/>
              </a:defRPr>
            </a:pPr>
            <a:r>
              <a:t>Use the team contribution fields below to reflect the work actually completed.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09960" cy="10972"/>
          </a:xfrm>
          <a:prstGeom prst="rect">
            <a:avLst/>
          </a:prstGeom>
          <a:solidFill>
            <a:srgbClr val="DE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83096"/>
            <a:ext cx="868680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F6F"/>
                </a:solidFill>
                <a:latin typeface="Aptos"/>
              </a:defRPr>
            </a:pPr>
            <a:r>
              <a:t>PARALLEL FILE SEARCH USING THREADS  /  CSE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F564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534924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563624"/>
            <a:ext cx="41148" cy="987551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572768"/>
            <a:ext cx="5001768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D PAWAN KUMAR  ·  2520090102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947672"/>
            <a:ext cx="4983479" cy="6217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1282B"/>
                </a:solidFill>
                <a:latin typeface="Aptos"/>
              </a:defRPr>
            </a:pPr>
            <a:r>
              <a:t>Contribution: [add actual module / responsibility]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17320"/>
            <a:ext cx="534924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563624"/>
            <a:ext cx="41148" cy="987551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572768"/>
            <a:ext cx="5001768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AJITH REDDY  ·  2520090186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47672"/>
            <a:ext cx="4983479" cy="6217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1282B"/>
                </a:solidFill>
                <a:latin typeface="Aptos"/>
              </a:defRPr>
            </a:pPr>
            <a:r>
              <a:t>Contribution: [add actual module / responsibility]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71800"/>
            <a:ext cx="534924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3118104"/>
            <a:ext cx="41148" cy="987551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127248"/>
            <a:ext cx="5001768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HITESH SUTHAR  ·  2520090078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502152"/>
            <a:ext cx="4983479" cy="6217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1282B"/>
                </a:solidFill>
                <a:latin typeface="Aptos"/>
              </a:defRPr>
            </a:pPr>
            <a:r>
              <a:t>Contribution: [add actual module / responsibility]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2971800"/>
            <a:ext cx="534924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118104"/>
            <a:ext cx="41148" cy="987551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127248"/>
            <a:ext cx="5001768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POTENTIAL BUSINESS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502152"/>
            <a:ext cx="4983479" cy="62179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1282B"/>
                </a:solidFill>
                <a:latin typeface="Aptos"/>
              </a:defRPr>
            </a:pPr>
            <a:r>
              <a:t>Can help developers search code, administrators inspect logs, and users locate information across folders.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10241280" cy="43891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9D4945"/>
                </a:solidFill>
                <a:latin typeface="Aptos"/>
              </a:defRPr>
            </a:pPr>
            <a:r>
              <a:t>Before presenting: replace contribution placeholders with verified team responsibilities.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2860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F564E"/>
                </a:solidFill>
                <a:latin typeface="Aptos"/>
              </a:defRPr>
            </a:pPr>
            <a:r>
              <a:t>13 / CONCLUSION &amp;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21282B"/>
                </a:solidFill>
                <a:latin typeface="Aptos Display"/>
              </a:defRPr>
            </a:pPr>
            <a:r>
              <a:t>A practical demonstration of operating-system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52144"/>
            <a:ext cx="10698480" cy="34747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66F6F"/>
                </a:solidFill>
                <a:latin typeface="Aptos"/>
              </a:defRPr>
            </a:pPr>
            <a:r>
              <a:t>Concurrency is valuable when paired with clear architecture, safe coordination, and usable output.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37376"/>
            <a:ext cx="11109960" cy="10972"/>
          </a:xfrm>
          <a:prstGeom prst="rect">
            <a:avLst/>
          </a:prstGeom>
          <a:solidFill>
            <a:srgbClr val="DE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83096"/>
            <a:ext cx="868680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F6F"/>
                </a:solidFill>
                <a:latin typeface="Aptos"/>
              </a:defRPr>
            </a:pPr>
            <a:r>
              <a:t>PARALLEL FILE SEARCH USING THREADS  /  CSE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F564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516636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563624"/>
            <a:ext cx="41148" cy="1353312"/>
          </a:xfrm>
          <a:prstGeom prst="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572768"/>
            <a:ext cx="4818888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564E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947672"/>
            <a:ext cx="4800600" cy="98755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A Qt interface and reusable C++17 search core demonstrate threads, synchronization, filesystem traversal, cancellation, and lifecycle management.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34924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0488" y="1563624"/>
            <a:ext cx="41148" cy="1353312"/>
          </a:xfrm>
          <a:prstGeom prst="rect">
            <a:avLst/>
          </a:prstGeom>
          <a:solidFill>
            <a:srgbClr val="AD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572768"/>
            <a:ext cx="5001768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D8B4D"/>
                </a:solidFill>
                <a:latin typeface="Aptos"/>
              </a:defRPr>
            </a:pPr>
            <a:r>
              <a:t>GITHUB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947672"/>
            <a:ext cx="4983479" cy="987552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Add your real repository URL here:</a:t>
            </a:r>
          </a:p>
          <a:p>
            <a:pPr>
              <a:spcAft>
                <a:spcPts val="600"/>
              </a:spcAft>
              <a:defRPr sz="1300" b="0">
                <a:solidFill>
                  <a:srgbClr val="21282B"/>
                </a:solidFill>
                <a:latin typeface="Aptos"/>
              </a:defRPr>
            </a:pPr>
            <a:r>
              <a:t>[PASTE GITHUB REPOSITORY LINK]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246120"/>
            <a:ext cx="4983480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66F6F"/>
                </a:solidFill>
                <a:latin typeface="Aptos"/>
              </a:defRPr>
            </a:pPr>
            <a:r>
              <a:t>Repository URL was not supplied, so no link has been invented.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10607040" cy="5029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F564E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10515600" cy="82296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66F6F"/>
                </a:solidFill>
                <a:latin typeface="Aptos"/>
              </a:defRPr>
            </a:pPr>
            <a:r>
              <a:t>C++ reference: en.cppreference.com     ·     Qt: doc.qt.io</a:t>
            </a:r>
          </a:p>
          <a:p>
            <a:pPr>
              <a:spcAft>
                <a:spcPts val="600"/>
              </a:spcAft>
              <a:defRPr sz="1000" b="0">
                <a:solidFill>
                  <a:srgbClr val="666F6F"/>
                </a:solidFill>
                <a:latin typeface="Aptos"/>
              </a:defRPr>
            </a:pPr>
            <a:r>
              <a:t>CMake: cmake.org/cmake/help/latest     ·     RFC 4180: rfc-editor.org/rfc/rfc4180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5303520"/>
            <a:ext cx="6400800" cy="621792"/>
          </a:xfrm>
          <a:prstGeom prst="roundRect">
            <a:avLst/>
          </a:prstGeom>
          <a:solidFill>
            <a:srgbClr val="1F5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63240" y="5458968"/>
            <a:ext cx="6035040" cy="274320"/>
          </a:xfrm>
          <a:prstGeom prst="rect">
            <a:avLst/>
          </a:prstGeom>
          <a:noFill/>
        </p:spPr>
        <p:txBody>
          <a:bodyPr wrap="square" lIns="18288" tIns="13716" rIns="18288" bIns="9144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THANK YOU  · 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1301</Words>
  <Application>Microsoft Office PowerPoint</Application>
  <PresentationFormat>Widescreen</PresentationFormat>
  <Paragraphs>214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Ajith Reddy Mutyala</dc:creator>
  <cp:keywords/>
  <dc:description>generated using python-pptx</dc:description>
  <cp:lastModifiedBy>Sai Ajith Reddy Mutyala</cp:lastModifiedBy>
  <cp:revision>2</cp:revision>
  <dcterms:created xsi:type="dcterms:W3CDTF">2013-01-27T09:14:16Z</dcterms:created>
  <dcterms:modified xsi:type="dcterms:W3CDTF">2026-10-17T05:33:28Z</dcterms:modified>
  <cp:category/>
</cp:coreProperties>
</file>